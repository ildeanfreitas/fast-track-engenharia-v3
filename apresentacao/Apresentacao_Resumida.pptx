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central do projeto. Da API à camada analítica, com as faixas transversais de Qualidade e Auditoria. Este é o slide-âncora para explicar o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do modelo: fatos (laranja) conectam-se às dimensões (ciano). dim_data e dim_deputado são as mais compartilhadas; proposições entra como ponte de fato_tramitacao.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dos oito produtos. Os seis obrigatórios em laranja; os dois opcionais (streaming e CDC) em roxo. Detalhe nos próximos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endpoint declara no YAML como deve ser ingerido. As cinco estratégias cobrem desde listas estáveis até histórico versionado (SCD2).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só pipeline: testes, CI, lint e runbooks. A estrutura de pastas separa claramente ingestão, transformação, analytics 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-2377440"/>
            <a:ext cx="5852160" cy="58521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480560"/>
            <a:ext cx="4754880" cy="4754880"/>
          </a:xfrm>
          <a:prstGeom prst="ellipse">
            <a:avLst/>
          </a:prstGeom>
          <a:solidFill>
            <a:srgbClr val="FB923C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 FINAL · UPSKILL TILLER — ENGENHARIA DE DADOS (T2)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Câmara dos Deputados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Lakehouse de ponta a ponta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 (Bronze → Silver → Gold) com Delta Lake + Time Travel sobre os Dados Abertos da Câmara.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434840"/>
            <a:ext cx="1033272" cy="310896"/>
          </a:xfrm>
          <a:prstGeom prst="roundRect">
            <a:avLst>
              <a:gd name="adj" fmla="val 50000"/>
            </a:avLst>
          </a:prstGeom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2569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Lake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93976" y="4434840"/>
            <a:ext cx="800100" cy="310896"/>
          </a:xfrm>
          <a:prstGeom prst="roundRect">
            <a:avLst>
              <a:gd name="adj" fmla="val 50000"/>
            </a:avLst>
          </a:prstGeom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4425696"/>
            <a:ext cx="80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40380" y="4434840"/>
            <a:ext cx="722376" cy="310896"/>
          </a:xfrm>
          <a:prstGeom prst="roundRect">
            <a:avLst>
              <a:gd name="adj" fmla="val 50000"/>
            </a:avLst>
          </a:prstGeom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0380" y="4425696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09060" y="4434840"/>
            <a:ext cx="1266444" cy="310896"/>
          </a:xfrm>
          <a:prstGeom prst="roundRect">
            <a:avLst>
              <a:gd name="adj" fmla="val 50000"/>
            </a:avLst>
          </a:prstGeom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9060" y="4425696"/>
            <a:ext cx="126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 Catalog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21808" y="4434840"/>
            <a:ext cx="1033272" cy="310896"/>
          </a:xfrm>
          <a:prstGeom prst="roundRect">
            <a:avLst>
              <a:gd name="adj" fmla="val 50000"/>
            </a:avLst>
          </a:prstGeom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4425696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Versão resumida · principais pontos · jun/2026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projeto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583680" cy="27432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lakehouse de ponta a ponta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2860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endpoints dos Dados Abertos da Câmara → arquitetura medalhão (Bronze → Silver → Gold).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+ Time Travel; roda em pandas local, PySpark local e Databricks.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6 produtos analíticos obrigatórios + 2 opcionais, com qualidade e linhagem.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1554480"/>
            <a:ext cx="4279392" cy="274320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60920" y="1554480"/>
            <a:ext cx="64008" cy="2743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Destaques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07808" y="22402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 até a URL de origem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fora do cluster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SCD2, streaming e z-score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CI e ADRs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2567178" cy="16916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526280"/>
            <a:ext cx="64008" cy="1691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463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48640" y="55961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90138" y="4526280"/>
            <a:ext cx="2567178" cy="16916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90138" y="4526280"/>
            <a:ext cx="64008" cy="1691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3390138" y="48463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7+4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3390138" y="55961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DIMS+FATOS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1636" y="4526280"/>
            <a:ext cx="2567178" cy="16916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1636" y="4526280"/>
            <a:ext cx="64008" cy="1691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231636" y="48463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6231636" y="55961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73134" y="4526280"/>
            <a:ext cx="2567178" cy="169164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73134" y="4526280"/>
            <a:ext cx="64008" cy="1691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9073134" y="484632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9073134" y="559612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TABELAS GOLD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 geral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BF24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Medalhão Bronze → Silver → Gold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64008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Câmara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endpoints REST v2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Link rel=next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180 RPM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4834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29154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29154" y="1600200"/>
            <a:ext cx="64008" cy="196596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4" name="Text 12"/>
          <p:cNvSpPr/>
          <p:nvPr/>
        </p:nvSpPr>
        <p:spPr>
          <a:xfrm>
            <a:off x="2993746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93746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D7F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+ AUDITORIA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12034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JSONL bruto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_audit.*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payload_hash SHA-256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35347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09667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09667" y="1600200"/>
            <a:ext cx="64008" cy="1965960"/>
          </a:xfrm>
          <a:prstGeom prst="rect">
            <a:avLst/>
          </a:prstGeom>
          <a:solidFill>
            <a:srgbClr val="C7D2DD"/>
          </a:solidFill>
          <a:ln/>
        </p:spPr>
      </p:sp>
      <p:sp>
        <p:nvSpPr>
          <p:cNvPr id="20" name="Text 18"/>
          <p:cNvSpPr/>
          <p:nvPr/>
        </p:nvSpPr>
        <p:spPr>
          <a:xfrm>
            <a:off x="5274259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74259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7D2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CONFORMADO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92547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+ tipagem UTC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por PK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+ flatten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15861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90181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90181" y="1600200"/>
            <a:ext cx="64008" cy="1965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7554773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54773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MODELADO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73061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dims + 4 fatos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~30 tabelas gold_*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96374" y="2583180"/>
            <a:ext cx="237744" cy="0"/>
          </a:xfrm>
          <a:prstGeom prst="line">
            <a:avLst/>
          </a:prstGeom>
          <a:noFill/>
          <a:ln w="22225">
            <a:solidFill>
              <a:srgbClr val="93A1B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70694" y="1600200"/>
            <a:ext cx="1969618" cy="1965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70694" y="1600200"/>
            <a:ext cx="64008" cy="1965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9835286" y="1728216"/>
            <a:ext cx="1695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835286" y="2075688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53574" y="2350008"/>
            <a:ext cx="16587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obrigatórios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opcionais</a:t>
            </a:r>
            <a:endParaRPr lang="en-US" sz="11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de validação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29154" y="3767328"/>
            <a:ext cx="4332427" cy="566928"/>
          </a:xfrm>
          <a:prstGeom prst="rect">
            <a:avLst/>
          </a:prstGeom>
          <a:solidFill>
            <a:srgbClr val="0E16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5458" y="3767328"/>
            <a:ext cx="4058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  </a:t>
            </a:r>
            <a:pPr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(DV + multi-UF) · expectations · z-score de anomalias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07885" y="3767328"/>
            <a:ext cx="4332427" cy="566928"/>
          </a:xfrm>
          <a:prstGeom prst="rect">
            <a:avLst/>
          </a:prstGeom>
          <a:solidFill>
            <a:srgbClr val="0E16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4189" y="3767328"/>
            <a:ext cx="4058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   </a:t>
            </a:r>
            <a:pPr indent="0" marL="0"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 · source_url · run_id · payload_hash (rastreável até a URL)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51713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auditoria atravessam todo o pipeline; cada linha em Gold é rastreável até a fonte.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DIMENSIONAL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— fatos, dimensões e ponte</a:t>
            </a:r>
            <a:endParaRPr lang="en-US" sz="3000" dirty="0"/>
          </a:p>
        </p:txBody>
      </p:sp>
      <p:pic>
        <p:nvPicPr>
          <p:cNvPr id="6" name="Image 0" descr="/sessions/dazzling-friendly-allen/mnt/outputs/star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572768"/>
            <a:ext cx="10058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1539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fatos no centro · 7 dimensões conformadas · dim_data compartilhada · tabela ponte de proposições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 schema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FB923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obrigatórios + 2 opcionais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das frentes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HHI, sobreposição, deputados em N frentes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138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90138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591306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1306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91306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Calendário de eventos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91306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presença, densidade semanal, eventos futuros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2804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32804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Correlação frente × votação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32804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frente vs. partido por votação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73134" y="169164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73134" y="169164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4302" y="189280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4302" y="19110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74302" y="256032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Raio-X CEAP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274302" y="310896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ranking, flag de CNPJ suspeito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02336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9808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de CPIs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49808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vs. prazo, produtividade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90138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90138" y="4023360"/>
            <a:ext cx="64008" cy="20116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8" name="Shape 36"/>
          <p:cNvSpPr/>
          <p:nvPr/>
        </p:nvSpPr>
        <p:spPr>
          <a:xfrm>
            <a:off x="3591306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1306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591306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Engajamento parlamentar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3591306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composto + percentil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31636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31636" y="4023360"/>
            <a:ext cx="64008" cy="20116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32804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2804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432804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de votações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432804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10 min · SLA (opcional)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32804" y="5742432"/>
            <a:ext cx="2155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3134" y="4023360"/>
            <a:ext cx="2567178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073134" y="4023360"/>
            <a:ext cx="64008" cy="20116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274302" y="4224528"/>
            <a:ext cx="502920" cy="502920"/>
          </a:xfrm>
          <a:prstGeom prst="ellipse">
            <a:avLst/>
          </a:prstGeom>
          <a:solidFill>
            <a:srgbClr val="0B0F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74302" y="4242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274302" y="4892040"/>
            <a:ext cx="2155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 de tramitação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274302" y="5440680"/>
            <a:ext cx="2155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+ alertas (opcional)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274302" y="5742432"/>
            <a:ext cx="2155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OPCIONAL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entregáveis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DIFERENCIAIS TÉCNICOS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destaca o projeto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62956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2103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92808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Ingestão fora do cluster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leve bate na API; cluster só processa Bronze→Gold (custo, segurança, observabilidade).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7356" y="1691640"/>
            <a:ext cx="5362956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1691640"/>
            <a:ext cx="64008" cy="21031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1892808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de dados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5956" y="246888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por dígito verificador + heurística multi-UF; z-score para anomalias de despesa.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62956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069080"/>
            <a:ext cx="64008" cy="21031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0248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&amp; linhagem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rastreável até a URL via run_id + payload_hash; idempotência por hash.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77356" y="4069080"/>
            <a:ext cx="5362956" cy="21031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7356" y="4069080"/>
            <a:ext cx="64008" cy="2103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5956" y="4270248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SCD2 + Streaming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05956" y="484632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versionado de tramitações e micro-batch de votações a cada 10 min.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diferenciais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INGESTÃO INCREMENTAL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estratégias por endpoint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ESTRATÉGIA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FAZ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 USAR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64008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tudo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1691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pequenas e estáveis (partidos, deputados)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532888"/>
            <a:ext cx="64008" cy="731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5328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5328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adiciona novos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25328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imutáveis (votações, votos)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74136"/>
            <a:ext cx="64008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741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append_watermark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37413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via coluna temporal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75120" y="337413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por data (despesas por ano/mês)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15384"/>
            <a:ext cx="64008" cy="7315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153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merge_by_hash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421538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se o hash mudou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75120" y="42153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que evoluem (proposições)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056632"/>
            <a:ext cx="11091672" cy="7315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056632"/>
            <a:ext cx="64008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0566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scd2_by_hash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50566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o histórico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75120" y="50566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relevantes (tramitações de PL)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-1828800"/>
            <a:ext cx="4206240" cy="4206240"/>
          </a:xfrm>
          <a:prstGeom prst="ellipse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DE ENGENHARIA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Testes, CI e operação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53384" cy="3108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3108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4708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468880"/>
            <a:ext cx="2996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suítes pytest com mocks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cobrem api_client, silver, quality, analytics, config, hashing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= contrato de comportamento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7784" y="1645920"/>
            <a:ext cx="3453384" cy="3108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645920"/>
            <a:ext cx="64008" cy="3108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6384" y="184708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/ Lint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4672" y="2468880"/>
            <a:ext cx="2996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em cada push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ruff check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build no README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6928" y="1645920"/>
            <a:ext cx="3453384" cy="310896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6928" y="1645920"/>
            <a:ext cx="64008" cy="3108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5528" y="184708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Operação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33816" y="2468880"/>
            <a:ext cx="2996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runbooks: setup, incidentes, port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e reprocessamento documentados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GitHub → Databricks Repo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09728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074920"/>
            <a:ext cx="64008" cy="10972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7492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Estrutura:  </a:t>
            </a:r>
            <a:pPr indent="0" marL="0">
              <a:buNone/>
            </a:pPr>
            <a:r>
              <a:rPr lang="en-US" sz="1200" dirty="0">
                <a:solidFill>
                  <a:srgbClr val="93A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conf/ (catálogo) · src/{ingestion,transforms,analytics,quality,pipelines,utils} · notebooks/ (Databricks) · tests/unit · docs/{architecture,data_model,decisions,runbooks}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engenharia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8165592" y="-2194560"/>
            <a:ext cx="5486400" cy="54864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lakehouse completo, auditável e reprodutível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64008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963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Cobre o desafio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medalhão + Delta, PySpark nativo, modelagem dimensional e qualidade — tudo entregue.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233172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2331720"/>
            <a:ext cx="64008" cy="1417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249631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5956" y="288036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de Gold volta à URL de origem via run_id + payload_hash.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77640"/>
            <a:ext cx="64008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4223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Reprodutível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modos de execução; replay re-roda do Bronze sem tocar na API.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7356" y="3977640"/>
            <a:ext cx="5362956" cy="1417320"/>
          </a:xfrm>
          <a:prstGeom prst="rect">
            <a:avLst/>
          </a:prstGeom>
          <a:solidFill>
            <a:srgbClr val="121A26"/>
          </a:solidFill>
          <a:ln w="12700">
            <a:solidFill>
              <a:srgbClr val="27323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7356" y="3977640"/>
            <a:ext cx="64008" cy="1417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05956" y="414223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5956" y="452628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ADRs, 3 runbooks, catálogo YAML e testes como contrato.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 agendar Workflows no Databricks · expandir streaming · dashboards de consumo em BI.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2732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FAST-TRACK-ENGENHARIA-V3  ·  Câmara dos Deputados — Pipeline Lakehouse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65592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Câmara Lakehouse — Apresentação resumida</dc:title>
  <dc:subject>PptxGenJS Presentation</dc:subject>
  <dc:creator>Freitas</dc:creator>
  <cp:lastModifiedBy>Freitas</cp:lastModifiedBy>
  <cp:revision>1</cp:revision>
  <dcterms:created xsi:type="dcterms:W3CDTF">2026-06-22T17:22:24Z</dcterms:created>
  <dcterms:modified xsi:type="dcterms:W3CDTF">2026-06-22T17:22:24Z</dcterms:modified>
</cp:coreProperties>
</file>